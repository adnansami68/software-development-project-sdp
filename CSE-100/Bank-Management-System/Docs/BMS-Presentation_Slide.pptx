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Times New Roman MT Bold" panose="02030802070405020303"/>
      <p:bold r:id="rId15"/>
    </p:embeddedFont>
    <p:embeddedFont>
      <p:font typeface="Times New Roman MT" panose="02030502070405020303"/>
      <p:regular r:id="rId16"/>
    </p:embeddedFont>
    <p:embeddedFont>
      <p:font typeface="Times New Roman MT Semi-Bold" panose="02030702070405020303"/>
      <p:bold r:id="rId17"/>
    </p:embeddedFont>
    <p:embeddedFont>
      <p:font typeface="Canva Sans Bold" panose="020B0803030501040103"/>
      <p:bold r:id="rId18"/>
    </p:embeddedFont>
    <p:embeddedFont>
      <p:font typeface="Poppins" panose="00000500000000000000"/>
      <p:regular r:id="rId19"/>
    </p:embeddedFont>
    <p:embeddedFont>
      <p:font typeface="Poppins Bold" panose="0000080000000000000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5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16230600" cy="1233286"/>
            <a:chOff x="0" y="0"/>
            <a:chExt cx="4274726" cy="3248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324816"/>
            </a:xfrm>
            <a:custGeom>
              <a:avLst/>
              <a:gdLst/>
              <a:ahLst/>
              <a:cxnLst/>
              <a:rect l="l" t="t" r="r" b="b"/>
              <a:pathLst>
                <a:path w="4274726" h="32481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00489"/>
                  </a:lnTo>
                  <a:cubicBezTo>
                    <a:pt x="4274726" y="306941"/>
                    <a:pt x="4272163" y="313129"/>
                    <a:pt x="4267601" y="317691"/>
                  </a:cubicBezTo>
                  <a:cubicBezTo>
                    <a:pt x="4263039" y="322253"/>
                    <a:pt x="4256851" y="324816"/>
                    <a:pt x="4250399" y="324816"/>
                  </a:cubicBezTo>
                  <a:lnTo>
                    <a:pt x="24327" y="324816"/>
                  </a:lnTo>
                  <a:cubicBezTo>
                    <a:pt x="10891" y="324816"/>
                    <a:pt x="0" y="313925"/>
                    <a:pt x="0" y="30048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A2F4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274726" cy="33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44359" y="1040250"/>
            <a:ext cx="11399282" cy="122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Bank Management System</a:t>
            </a:r>
            <a:endParaRPr lang="en-US" sz="8000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384041" y="2686831"/>
            <a:ext cx="3682960" cy="83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  <a:spcBef>
                <a:spcPct val="0"/>
              </a:spcBef>
            </a:pPr>
            <a:r>
              <a:rPr lang="en-US" sz="50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</a:t>
            </a:r>
            <a:endParaRPr lang="en-US" sz="50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578054" y="3544143"/>
            <a:ext cx="7076718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Luckman Rafique (20255103042)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Md. Taimur Rahman (20255103046) 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Md. Yousuf Ali (20255103059)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Md. Adnan Sami (20255103068)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Siam Khan (20255103069) 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647700" lvl="1" indent="-323850" algn="l">
              <a:lnSpc>
                <a:spcPts val="4200"/>
              </a:lnSpc>
              <a:buAutoNum type="arabicPeriod"/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Kazi Yeaj Morshed Rizve (20255103074)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028700" y="7024780"/>
            <a:ext cx="16230600" cy="3007194"/>
            <a:chOff x="0" y="0"/>
            <a:chExt cx="4274726" cy="7920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792018"/>
            </a:xfrm>
            <a:custGeom>
              <a:avLst/>
              <a:gdLst/>
              <a:ahLst/>
              <a:cxnLst/>
              <a:rect l="l" t="t" r="r" b="b"/>
              <a:pathLst>
                <a:path w="4274726" h="792018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767692"/>
                  </a:lnTo>
                  <a:cubicBezTo>
                    <a:pt x="4274726" y="774143"/>
                    <a:pt x="4272163" y="780331"/>
                    <a:pt x="4267601" y="784893"/>
                  </a:cubicBezTo>
                  <a:cubicBezTo>
                    <a:pt x="4263039" y="789455"/>
                    <a:pt x="4256851" y="792018"/>
                    <a:pt x="4250399" y="792018"/>
                  </a:cubicBezTo>
                  <a:lnTo>
                    <a:pt x="24327" y="792018"/>
                  </a:lnTo>
                  <a:cubicBezTo>
                    <a:pt x="10891" y="792018"/>
                    <a:pt x="0" y="781127"/>
                    <a:pt x="0" y="76769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A2F4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4274726" cy="801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742934" y="7236063"/>
            <a:ext cx="8802132" cy="66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Times New Roman MT Semi-Bold" panose="02030702070405020303"/>
                <a:ea typeface="Times New Roman MT Semi-Bold" panose="02030702070405020303"/>
                <a:cs typeface="Times New Roman MT Semi-Bold" panose="02030702070405020303"/>
                <a:sym typeface="Times New Roman MT Semi-Bold" panose="02030702070405020303"/>
              </a:rPr>
              <a:t>Course Title: Software Development I</a:t>
            </a:r>
            <a:endParaRPr lang="en-US" sz="4000" b="1">
              <a:solidFill>
                <a:srgbClr val="FFFFFF"/>
              </a:solidFill>
              <a:latin typeface="Times New Roman MT Semi-Bold" panose="02030702070405020303"/>
              <a:ea typeface="Times New Roman MT Semi-Bold" panose="02030702070405020303"/>
              <a:cs typeface="Times New Roman MT Semi-Bold" panose="02030702070405020303"/>
              <a:sym typeface="Times New Roman MT Semi-Bold" panose="020307020704050203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485394" y="7890113"/>
            <a:ext cx="5317212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Times New Roman MT Semi-Bold" panose="02030702070405020303"/>
                <a:ea typeface="Times New Roman MT Semi-Bold" panose="02030702070405020303"/>
                <a:cs typeface="Times New Roman MT Semi-Bold" panose="02030702070405020303"/>
                <a:sym typeface="Times New Roman MT Semi-Bold" panose="02030702070405020303"/>
              </a:rPr>
              <a:t>Course Code: CSE 100</a:t>
            </a:r>
            <a:endParaRPr lang="en-US" sz="4000" b="1">
              <a:solidFill>
                <a:srgbClr val="FFFFFF"/>
              </a:solidFill>
              <a:latin typeface="Times New Roman MT Semi-Bold" panose="02030702070405020303"/>
              <a:ea typeface="Times New Roman MT Semi-Bold" panose="02030702070405020303"/>
              <a:cs typeface="Times New Roman MT Semi-Bold" panose="02030702070405020303"/>
              <a:sym typeface="Times New Roman MT Semi-Bold" panose="020307020704050203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229689" y="8544163"/>
            <a:ext cx="11828621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Times New Roman MT Semi-Bold" panose="02030702070405020303"/>
                <a:ea typeface="Times New Roman MT Semi-Bold" panose="02030702070405020303"/>
                <a:cs typeface="Times New Roman MT Semi-Bold" panose="02030702070405020303"/>
                <a:sym typeface="Times New Roman MT Semi-Bold" panose="02030702070405020303"/>
              </a:rPr>
              <a:t>Department of Computer Science and Engineering</a:t>
            </a:r>
            <a:endParaRPr lang="en-US" sz="4000" b="1">
              <a:solidFill>
                <a:srgbClr val="FFFFFF"/>
              </a:solidFill>
              <a:latin typeface="Times New Roman MT Semi-Bold" panose="02030702070405020303"/>
              <a:ea typeface="Times New Roman MT Semi-Bold" panose="02030702070405020303"/>
              <a:cs typeface="Times New Roman MT Semi-Bold" panose="02030702070405020303"/>
              <a:sym typeface="Times New Roman MT Semi-Bold" panose="020307020704050203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88018" y="9174824"/>
            <a:ext cx="11911965" cy="66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Times New Roman MT Semi-Bold" panose="02030702070405020303"/>
                <a:ea typeface="Times New Roman MT Semi-Bold" panose="02030702070405020303"/>
                <a:cs typeface="Times New Roman MT Semi-Bold" panose="02030702070405020303"/>
                <a:sym typeface="Times New Roman MT Semi-Bold" panose="02030702070405020303"/>
              </a:rPr>
              <a:t>Bangladesh University of Business and Technology</a:t>
            </a:r>
            <a:endParaRPr lang="en-US" sz="4000" b="1">
              <a:solidFill>
                <a:srgbClr val="FFFFFF"/>
              </a:solidFill>
              <a:latin typeface="Times New Roman MT Semi-Bold" panose="02030702070405020303"/>
              <a:ea typeface="Times New Roman MT Semi-Bold" panose="02030702070405020303"/>
              <a:cs typeface="Times New Roman MT Semi-Bold" panose="02030702070405020303"/>
              <a:sym typeface="Times New Roman MT Semi-Bold" panose="020307020704050203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818203" y="2686831"/>
            <a:ext cx="3651766" cy="83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  <a:spcBef>
                <a:spcPct val="0"/>
              </a:spcBef>
            </a:pPr>
            <a:r>
              <a:rPr lang="en-US" sz="50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To:</a:t>
            </a:r>
            <a:endParaRPr lang="en-US" sz="50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247871" y="3394856"/>
            <a:ext cx="2827020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Humayra Ferdous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Lecturer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Dept. of CSE</a:t>
            </a:r>
            <a:endParaRPr lang="en-US" sz="30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276661" y="2512471"/>
            <a:ext cx="9855539" cy="6837107"/>
            <a:chOff x="0" y="0"/>
            <a:chExt cx="624157" cy="4329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4157" cy="432998"/>
            </a:xfrm>
            <a:custGeom>
              <a:avLst/>
              <a:gdLst/>
              <a:ahLst/>
              <a:cxnLst/>
              <a:rect l="l" t="t" r="r" b="b"/>
              <a:pathLst>
                <a:path w="624157" h="432998">
                  <a:moveTo>
                    <a:pt x="15343" y="0"/>
                  </a:moveTo>
                  <a:lnTo>
                    <a:pt x="608814" y="0"/>
                  </a:lnTo>
                  <a:cubicBezTo>
                    <a:pt x="612883" y="0"/>
                    <a:pt x="616786" y="1616"/>
                    <a:pt x="619663" y="4494"/>
                  </a:cubicBezTo>
                  <a:cubicBezTo>
                    <a:pt x="622541" y="7371"/>
                    <a:pt x="624157" y="11273"/>
                    <a:pt x="624157" y="15343"/>
                  </a:cubicBezTo>
                  <a:lnTo>
                    <a:pt x="624157" y="417655"/>
                  </a:lnTo>
                  <a:cubicBezTo>
                    <a:pt x="624157" y="426129"/>
                    <a:pt x="617288" y="432998"/>
                    <a:pt x="608814" y="432998"/>
                  </a:cubicBezTo>
                  <a:lnTo>
                    <a:pt x="15343" y="432998"/>
                  </a:lnTo>
                  <a:cubicBezTo>
                    <a:pt x="6869" y="432998"/>
                    <a:pt x="0" y="426129"/>
                    <a:pt x="0" y="417655"/>
                  </a:cubicBezTo>
                  <a:lnTo>
                    <a:pt x="0" y="15343"/>
                  </a:lnTo>
                  <a:cubicBezTo>
                    <a:pt x="0" y="6869"/>
                    <a:pt x="6869" y="0"/>
                    <a:pt x="15343" y="0"/>
                  </a:cubicBezTo>
                  <a:close/>
                </a:path>
              </a:pathLst>
            </a:custGeom>
            <a:solidFill>
              <a:srgbClr val="0D38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624157" cy="44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028700" y="1028700"/>
            <a:ext cx="16230600" cy="1233286"/>
            <a:chOff x="0" y="0"/>
            <a:chExt cx="4274726" cy="324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324816"/>
            </a:xfrm>
            <a:custGeom>
              <a:avLst/>
              <a:gdLst/>
              <a:ahLst/>
              <a:cxnLst/>
              <a:rect l="l" t="t" r="r" b="b"/>
              <a:pathLst>
                <a:path w="4274726" h="32481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00489"/>
                  </a:lnTo>
                  <a:cubicBezTo>
                    <a:pt x="4274726" y="306941"/>
                    <a:pt x="4272163" y="313129"/>
                    <a:pt x="4267601" y="317691"/>
                  </a:cubicBezTo>
                  <a:cubicBezTo>
                    <a:pt x="4263039" y="322253"/>
                    <a:pt x="4256851" y="324816"/>
                    <a:pt x="4250399" y="324816"/>
                  </a:cubicBezTo>
                  <a:lnTo>
                    <a:pt x="24327" y="324816"/>
                  </a:lnTo>
                  <a:cubicBezTo>
                    <a:pt x="10891" y="324816"/>
                    <a:pt x="0" y="313925"/>
                    <a:pt x="0" y="30048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274726" cy="33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67908" y="1029710"/>
            <a:ext cx="7952184" cy="122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 Topic Distribution</a:t>
            </a:r>
            <a:endParaRPr lang="en-US" sz="8000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527490" y="9715500"/>
            <a:ext cx="3331488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Bank Management System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4276661" y="7000323"/>
            <a:ext cx="9855539" cy="1128989"/>
            <a:chOff x="0" y="0"/>
            <a:chExt cx="3123852" cy="3578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3852" cy="357849"/>
            </a:xfrm>
            <a:custGeom>
              <a:avLst/>
              <a:gdLst/>
              <a:ahLst/>
              <a:cxnLst/>
              <a:rect l="l" t="t" r="r" b="b"/>
              <a:pathLst>
                <a:path w="3123852" h="357849">
                  <a:moveTo>
                    <a:pt x="23566" y="0"/>
                  </a:moveTo>
                  <a:lnTo>
                    <a:pt x="3100285" y="0"/>
                  </a:lnTo>
                  <a:cubicBezTo>
                    <a:pt x="3106536" y="0"/>
                    <a:pt x="3112530" y="2483"/>
                    <a:pt x="3116949" y="6902"/>
                  </a:cubicBezTo>
                  <a:cubicBezTo>
                    <a:pt x="3121369" y="11322"/>
                    <a:pt x="3123852" y="17316"/>
                    <a:pt x="3123852" y="23566"/>
                  </a:cubicBezTo>
                  <a:lnTo>
                    <a:pt x="3123852" y="334283"/>
                  </a:lnTo>
                  <a:cubicBezTo>
                    <a:pt x="3123852" y="340533"/>
                    <a:pt x="3121369" y="346527"/>
                    <a:pt x="3116949" y="350946"/>
                  </a:cubicBezTo>
                  <a:cubicBezTo>
                    <a:pt x="3112530" y="355366"/>
                    <a:pt x="3106536" y="357849"/>
                    <a:pt x="3100285" y="357849"/>
                  </a:cubicBezTo>
                  <a:lnTo>
                    <a:pt x="23566" y="357849"/>
                  </a:lnTo>
                  <a:cubicBezTo>
                    <a:pt x="17316" y="357849"/>
                    <a:pt x="11322" y="355366"/>
                    <a:pt x="6902" y="350946"/>
                  </a:cubicBezTo>
                  <a:cubicBezTo>
                    <a:pt x="2483" y="346527"/>
                    <a:pt x="0" y="340533"/>
                    <a:pt x="0" y="334283"/>
                  </a:cubicBezTo>
                  <a:lnTo>
                    <a:pt x="0" y="23566"/>
                  </a:lnTo>
                  <a:cubicBezTo>
                    <a:pt x="0" y="17316"/>
                    <a:pt x="2483" y="11322"/>
                    <a:pt x="6902" y="6902"/>
                  </a:cubicBezTo>
                  <a:cubicBezTo>
                    <a:pt x="11322" y="2483"/>
                    <a:pt x="17316" y="0"/>
                    <a:pt x="23566" y="0"/>
                  </a:cubicBezTo>
                  <a:close/>
                </a:path>
              </a:pathLst>
            </a:custGeom>
            <a:solidFill>
              <a:srgbClr val="0A2F4C">
                <a:alpha val="47843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123852" cy="357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5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4276661" y="5871334"/>
            <a:ext cx="9855539" cy="1128989"/>
            <a:chOff x="0" y="0"/>
            <a:chExt cx="3123852" cy="3578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23852" cy="357849"/>
            </a:xfrm>
            <a:custGeom>
              <a:avLst/>
              <a:gdLst/>
              <a:ahLst/>
              <a:cxnLst/>
              <a:rect l="l" t="t" r="r" b="b"/>
              <a:pathLst>
                <a:path w="3123852" h="357849">
                  <a:moveTo>
                    <a:pt x="23566" y="0"/>
                  </a:moveTo>
                  <a:lnTo>
                    <a:pt x="3100285" y="0"/>
                  </a:lnTo>
                  <a:cubicBezTo>
                    <a:pt x="3106536" y="0"/>
                    <a:pt x="3112530" y="2483"/>
                    <a:pt x="3116949" y="6902"/>
                  </a:cubicBezTo>
                  <a:cubicBezTo>
                    <a:pt x="3121369" y="11322"/>
                    <a:pt x="3123852" y="17316"/>
                    <a:pt x="3123852" y="23566"/>
                  </a:cubicBezTo>
                  <a:lnTo>
                    <a:pt x="3123852" y="334283"/>
                  </a:lnTo>
                  <a:cubicBezTo>
                    <a:pt x="3123852" y="340533"/>
                    <a:pt x="3121369" y="346527"/>
                    <a:pt x="3116949" y="350946"/>
                  </a:cubicBezTo>
                  <a:cubicBezTo>
                    <a:pt x="3112530" y="355366"/>
                    <a:pt x="3106536" y="357849"/>
                    <a:pt x="3100285" y="357849"/>
                  </a:cubicBezTo>
                  <a:lnTo>
                    <a:pt x="23566" y="357849"/>
                  </a:lnTo>
                  <a:cubicBezTo>
                    <a:pt x="17316" y="357849"/>
                    <a:pt x="11322" y="355366"/>
                    <a:pt x="6902" y="350946"/>
                  </a:cubicBezTo>
                  <a:cubicBezTo>
                    <a:pt x="2483" y="346527"/>
                    <a:pt x="0" y="340533"/>
                    <a:pt x="0" y="334283"/>
                  </a:cubicBezTo>
                  <a:lnTo>
                    <a:pt x="0" y="23566"/>
                  </a:lnTo>
                  <a:cubicBezTo>
                    <a:pt x="0" y="17316"/>
                    <a:pt x="2483" y="11322"/>
                    <a:pt x="6902" y="6902"/>
                  </a:cubicBezTo>
                  <a:cubicBezTo>
                    <a:pt x="11322" y="2483"/>
                    <a:pt x="17316" y="0"/>
                    <a:pt x="23566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3123852" cy="357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5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4276661" y="3613357"/>
            <a:ext cx="9855539" cy="1128989"/>
            <a:chOff x="0" y="0"/>
            <a:chExt cx="3123852" cy="3578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23852" cy="357849"/>
            </a:xfrm>
            <a:custGeom>
              <a:avLst/>
              <a:gdLst/>
              <a:ahLst/>
              <a:cxnLst/>
              <a:rect l="l" t="t" r="r" b="b"/>
              <a:pathLst>
                <a:path w="3123852" h="357849">
                  <a:moveTo>
                    <a:pt x="23566" y="0"/>
                  </a:moveTo>
                  <a:lnTo>
                    <a:pt x="3100285" y="0"/>
                  </a:lnTo>
                  <a:cubicBezTo>
                    <a:pt x="3106536" y="0"/>
                    <a:pt x="3112530" y="2483"/>
                    <a:pt x="3116949" y="6902"/>
                  </a:cubicBezTo>
                  <a:cubicBezTo>
                    <a:pt x="3121369" y="11322"/>
                    <a:pt x="3123852" y="17316"/>
                    <a:pt x="3123852" y="23566"/>
                  </a:cubicBezTo>
                  <a:lnTo>
                    <a:pt x="3123852" y="334283"/>
                  </a:lnTo>
                  <a:cubicBezTo>
                    <a:pt x="3123852" y="340533"/>
                    <a:pt x="3121369" y="346527"/>
                    <a:pt x="3116949" y="350946"/>
                  </a:cubicBezTo>
                  <a:cubicBezTo>
                    <a:pt x="3112530" y="355366"/>
                    <a:pt x="3106536" y="357849"/>
                    <a:pt x="3100285" y="357849"/>
                  </a:cubicBezTo>
                  <a:lnTo>
                    <a:pt x="23566" y="357849"/>
                  </a:lnTo>
                  <a:cubicBezTo>
                    <a:pt x="17316" y="357849"/>
                    <a:pt x="11322" y="355366"/>
                    <a:pt x="6902" y="350946"/>
                  </a:cubicBezTo>
                  <a:cubicBezTo>
                    <a:pt x="2483" y="346527"/>
                    <a:pt x="0" y="340533"/>
                    <a:pt x="0" y="334283"/>
                  </a:cubicBezTo>
                  <a:lnTo>
                    <a:pt x="0" y="23566"/>
                  </a:lnTo>
                  <a:cubicBezTo>
                    <a:pt x="0" y="17316"/>
                    <a:pt x="2483" y="11322"/>
                    <a:pt x="6902" y="6902"/>
                  </a:cubicBezTo>
                  <a:cubicBezTo>
                    <a:pt x="11322" y="2483"/>
                    <a:pt x="17316" y="0"/>
                    <a:pt x="23566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3123852" cy="357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5"/>
                </a:lnSpc>
              </a:p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627689" y="2908656"/>
            <a:ext cx="1531045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Siam Khan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624268" y="6268425"/>
            <a:ext cx="2532559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Luckman Rafique 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624268" y="5133975"/>
            <a:ext cx="2133600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Md. Yousuf Ali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318634" y="2908656"/>
            <a:ext cx="2309455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System Overview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980015" y="6268425"/>
            <a:ext cx="3648075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Security &amp; Data Validation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431976" y="8472211"/>
            <a:ext cx="3161229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Future Implementation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607944" y="8472211"/>
            <a:ext cx="2945844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Md. Taimur  Rahman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557944" y="5133975"/>
            <a:ext cx="3013546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Class Diagram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627689" y="4002910"/>
            <a:ext cx="2344698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Md. Adnan Sami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893224" y="3981002"/>
            <a:ext cx="2734866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System Architecture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627689" y="7413606"/>
            <a:ext cx="3452812" cy="38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Kazi Yeaj Morshed Rizve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928109" y="7369689"/>
            <a:ext cx="2643380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5"/>
              </a:lnSpc>
            </a:pPr>
            <a:r>
              <a:rPr lang="en-US" sz="25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Current Limitation </a:t>
            </a:r>
            <a:endParaRPr lang="en-US" sz="25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r">
              <a:lnSpc>
                <a:spcPts val="2525"/>
              </a:lnSpc>
              <a:spcBef>
                <a:spcPct val="0"/>
              </a:spcBef>
            </a:pPr>
          </a:p>
        </p:txBody>
      </p:sp>
      <p:grpSp>
        <p:nvGrpSpPr>
          <p:cNvPr id="31" name="Group 31"/>
          <p:cNvGrpSpPr/>
          <p:nvPr/>
        </p:nvGrpSpPr>
        <p:grpSpPr>
          <a:xfrm rot="0">
            <a:off x="-845756" y="9565607"/>
            <a:ext cx="19527875" cy="3086100"/>
            <a:chOff x="0" y="0"/>
            <a:chExt cx="5143144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3858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5143144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4973" y="9784708"/>
            <a:ext cx="1196029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page 02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08356" y="9750471"/>
            <a:ext cx="4871287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Siam Khan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962477" y="9750471"/>
            <a:ext cx="3952010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Bank Management System 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174973" y="439048"/>
            <a:ext cx="16084327" cy="1202264"/>
            <a:chOff x="0" y="0"/>
            <a:chExt cx="4236201" cy="3166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36201" cy="316646"/>
            </a:xfrm>
            <a:custGeom>
              <a:avLst/>
              <a:gdLst/>
              <a:ahLst/>
              <a:cxnLst/>
              <a:rect l="l" t="t" r="r" b="b"/>
              <a:pathLst>
                <a:path w="4236201" h="316646">
                  <a:moveTo>
                    <a:pt x="24548" y="0"/>
                  </a:moveTo>
                  <a:lnTo>
                    <a:pt x="4211653" y="0"/>
                  </a:lnTo>
                  <a:cubicBezTo>
                    <a:pt x="4218164" y="0"/>
                    <a:pt x="4224408" y="2586"/>
                    <a:pt x="4229011" y="7190"/>
                  </a:cubicBezTo>
                  <a:cubicBezTo>
                    <a:pt x="4233615" y="11794"/>
                    <a:pt x="4236201" y="18037"/>
                    <a:pt x="4236201" y="24548"/>
                  </a:cubicBezTo>
                  <a:lnTo>
                    <a:pt x="4236201" y="292098"/>
                  </a:lnTo>
                  <a:cubicBezTo>
                    <a:pt x="4236201" y="305655"/>
                    <a:pt x="4225211" y="316646"/>
                    <a:pt x="4211653" y="316646"/>
                  </a:cubicBezTo>
                  <a:lnTo>
                    <a:pt x="24548" y="316646"/>
                  </a:lnTo>
                  <a:cubicBezTo>
                    <a:pt x="10991" y="316646"/>
                    <a:pt x="0" y="305655"/>
                    <a:pt x="0" y="292098"/>
                  </a:cubicBezTo>
                  <a:lnTo>
                    <a:pt x="0" y="24548"/>
                  </a:lnTo>
                  <a:cubicBezTo>
                    <a:pt x="0" y="10991"/>
                    <a:pt x="10991" y="0"/>
                    <a:pt x="24548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236201" cy="326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5"/>
                </a:lnSpc>
              </a:p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60756" y="9902871"/>
            <a:ext cx="4871287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Siam Khan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74973" y="9784708"/>
            <a:ext cx="1196029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page 02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708356" y="9750471"/>
            <a:ext cx="4871287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Adnan Sami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62477" y="9750471"/>
            <a:ext cx="3952010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4.1 Arrays of Objects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-845756" y="9258300"/>
            <a:ext cx="19527875" cy="3393407"/>
            <a:chOff x="0" y="0"/>
            <a:chExt cx="5143144" cy="8937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43144" cy="893737"/>
            </a:xfrm>
            <a:custGeom>
              <a:avLst/>
              <a:gdLst/>
              <a:ahLst/>
              <a:cxnLst/>
              <a:rect l="l" t="t" r="r" b="b"/>
              <a:pathLst>
                <a:path w="5143144" h="893737">
                  <a:moveTo>
                    <a:pt x="0" y="0"/>
                  </a:moveTo>
                  <a:lnTo>
                    <a:pt x="5143144" y="0"/>
                  </a:lnTo>
                  <a:lnTo>
                    <a:pt x="5143144" y="893737"/>
                  </a:lnTo>
                  <a:lnTo>
                    <a:pt x="0" y="893737"/>
                  </a:ln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143144" cy="903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72988" y="9591756"/>
            <a:ext cx="1196029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page 03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55427" y="9601281"/>
            <a:ext cx="4019367" cy="38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sz="257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by:Siam Khan</a:t>
            </a:r>
            <a:endParaRPr lang="en-US" sz="257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-970336" y="9503317"/>
            <a:ext cx="19527875" cy="3086100"/>
            <a:chOff x="0" y="0"/>
            <a:chExt cx="5143144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143144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>
            <a:off x="1772988" y="2467643"/>
            <a:ext cx="4238092" cy="3138207"/>
          </a:xfrm>
          <a:custGeom>
            <a:avLst/>
            <a:gdLst/>
            <a:ahLst/>
            <a:cxnLst/>
            <a:rect l="l" t="t" r="r" b="b"/>
            <a:pathLst>
              <a:path w="4238092" h="3138207">
                <a:moveTo>
                  <a:pt x="0" y="0"/>
                </a:moveTo>
                <a:lnTo>
                  <a:pt x="4238092" y="0"/>
                </a:lnTo>
                <a:lnTo>
                  <a:pt x="4238092" y="3138208"/>
                </a:lnTo>
                <a:lnTo>
                  <a:pt x="0" y="313820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4312" t="-28971" r="-25057" b="-32833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772988" y="6285581"/>
            <a:ext cx="4445994" cy="2444422"/>
          </a:xfrm>
          <a:custGeom>
            <a:avLst/>
            <a:gdLst/>
            <a:ahLst/>
            <a:cxnLst/>
            <a:rect l="l" t="t" r="r" b="b"/>
            <a:pathLst>
              <a:path w="4445994" h="2444422">
                <a:moveTo>
                  <a:pt x="0" y="0"/>
                </a:moveTo>
                <a:lnTo>
                  <a:pt x="4445994" y="0"/>
                </a:lnTo>
                <a:lnTo>
                  <a:pt x="4445994" y="2444422"/>
                </a:lnTo>
                <a:lnTo>
                  <a:pt x="0" y="2444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07" t="-37965" r="-17869" b="-6527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732044" y="2467643"/>
            <a:ext cx="5303165" cy="2515891"/>
          </a:xfrm>
          <a:custGeom>
            <a:avLst/>
            <a:gdLst/>
            <a:ahLst/>
            <a:cxnLst/>
            <a:rect l="l" t="t" r="r" b="b"/>
            <a:pathLst>
              <a:path w="5303165" h="2515891">
                <a:moveTo>
                  <a:pt x="0" y="0"/>
                </a:moveTo>
                <a:lnTo>
                  <a:pt x="5303164" y="0"/>
                </a:lnTo>
                <a:lnTo>
                  <a:pt x="5303164" y="2515891"/>
                </a:lnTo>
                <a:lnTo>
                  <a:pt x="0" y="2515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34" t="-25674" r="-20881" b="-24933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764865" y="6288267"/>
            <a:ext cx="5270344" cy="2551710"/>
          </a:xfrm>
          <a:custGeom>
            <a:avLst/>
            <a:gdLst/>
            <a:ahLst/>
            <a:cxnLst/>
            <a:rect l="l" t="t" r="r" b="b"/>
            <a:pathLst>
              <a:path w="5270344" h="2551710">
                <a:moveTo>
                  <a:pt x="0" y="0"/>
                </a:moveTo>
                <a:lnTo>
                  <a:pt x="5270343" y="0"/>
                </a:lnTo>
                <a:lnTo>
                  <a:pt x="5270343" y="2551710"/>
                </a:lnTo>
                <a:lnTo>
                  <a:pt x="0" y="2551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31" t="-31390" r="-15498" b="-26362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429509" y="4321970"/>
            <a:ext cx="5150135" cy="2255672"/>
          </a:xfrm>
          <a:custGeom>
            <a:avLst/>
            <a:gdLst/>
            <a:ahLst/>
            <a:cxnLst/>
            <a:rect l="l" t="t" r="r" b="b"/>
            <a:pathLst>
              <a:path w="5150135" h="2255672">
                <a:moveTo>
                  <a:pt x="0" y="0"/>
                </a:moveTo>
                <a:lnTo>
                  <a:pt x="5150135" y="0"/>
                </a:lnTo>
                <a:lnTo>
                  <a:pt x="5150135" y="2255672"/>
                </a:lnTo>
                <a:lnTo>
                  <a:pt x="0" y="2255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533" t="-30492" r="-17283" b="-26008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160294" y="521192"/>
            <a:ext cx="6272212" cy="102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5"/>
              </a:lnSpc>
              <a:spcBef>
                <a:spcPct val="0"/>
              </a:spcBef>
            </a:pPr>
            <a:r>
              <a:rPr lang="en-US" sz="67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</a:t>
            </a:r>
            <a:r>
              <a:rPr lang="en-US" sz="67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ystem Overview </a:t>
            </a:r>
            <a:endParaRPr lang="en-US" sz="6700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708356" y="9579846"/>
            <a:ext cx="4871287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Siam Khan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772988" y="2050110"/>
            <a:ext cx="3414496" cy="417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5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BankAcc</a:t>
            </a:r>
            <a:r>
              <a:rPr lang="en-US" sz="27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ount Class:</a:t>
            </a:r>
            <a:endParaRPr lang="en-US" sz="27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772988" y="5793813"/>
            <a:ext cx="3414496" cy="417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5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Banki</a:t>
            </a:r>
            <a:r>
              <a:rPr lang="en-US" sz="27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ngSystem Class:</a:t>
            </a:r>
            <a:endParaRPr lang="en-US" sz="27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732044" y="2050110"/>
            <a:ext cx="379427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Withdraw M</a:t>
            </a:r>
            <a:r>
              <a:rPr lang="en-US" sz="30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oney:</a:t>
            </a:r>
            <a:endParaRPr lang="en-US" sz="30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764865" y="5782443"/>
            <a:ext cx="379427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Check Bala</a:t>
            </a:r>
            <a:r>
              <a:rPr lang="en-US" sz="30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nce:</a:t>
            </a:r>
            <a:endParaRPr lang="en-US" sz="30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095316" y="3716064"/>
            <a:ext cx="4097368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Display Account Details:</a:t>
            </a:r>
            <a:endParaRPr lang="en-US" sz="30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8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845756" y="9565607"/>
            <a:ext cx="19527875" cy="3086100"/>
            <a:chOff x="0" y="0"/>
            <a:chExt cx="514314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05D9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143144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028700" y="1028700"/>
            <a:ext cx="16230600" cy="1233286"/>
            <a:chOff x="0" y="0"/>
            <a:chExt cx="4274726" cy="324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324816"/>
            </a:xfrm>
            <a:custGeom>
              <a:avLst/>
              <a:gdLst/>
              <a:ahLst/>
              <a:cxnLst/>
              <a:rect l="l" t="t" r="r" b="b"/>
              <a:pathLst>
                <a:path w="4274726" h="32481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00489"/>
                  </a:lnTo>
                  <a:cubicBezTo>
                    <a:pt x="4274726" y="306941"/>
                    <a:pt x="4272163" y="313129"/>
                    <a:pt x="4267601" y="317691"/>
                  </a:cubicBezTo>
                  <a:cubicBezTo>
                    <a:pt x="4263039" y="322253"/>
                    <a:pt x="4256851" y="324816"/>
                    <a:pt x="4250399" y="324816"/>
                  </a:cubicBezTo>
                  <a:lnTo>
                    <a:pt x="24327" y="324816"/>
                  </a:lnTo>
                  <a:cubicBezTo>
                    <a:pt x="10891" y="324816"/>
                    <a:pt x="0" y="313925"/>
                    <a:pt x="0" y="30048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274726" cy="33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403420" y="3650815"/>
            <a:ext cx="7234197" cy="1746635"/>
          </a:xfrm>
          <a:custGeom>
            <a:avLst/>
            <a:gdLst/>
            <a:ahLst/>
            <a:cxnLst/>
            <a:rect l="l" t="t" r="r" b="b"/>
            <a:pathLst>
              <a:path w="7234197" h="1746635">
                <a:moveTo>
                  <a:pt x="0" y="0"/>
                </a:moveTo>
                <a:lnTo>
                  <a:pt x="7234197" y="0"/>
                </a:lnTo>
                <a:lnTo>
                  <a:pt x="7234197" y="1746635"/>
                </a:lnTo>
                <a:lnTo>
                  <a:pt x="0" y="174663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963" r="-963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492454" y="4393058"/>
            <a:ext cx="8422032" cy="1558021"/>
          </a:xfrm>
          <a:custGeom>
            <a:avLst/>
            <a:gdLst/>
            <a:ahLst/>
            <a:cxnLst/>
            <a:rect l="l" t="t" r="r" b="b"/>
            <a:pathLst>
              <a:path w="8422032" h="1558021">
                <a:moveTo>
                  <a:pt x="0" y="0"/>
                </a:moveTo>
                <a:lnTo>
                  <a:pt x="8422033" y="0"/>
                </a:lnTo>
                <a:lnTo>
                  <a:pt x="8422033" y="1558021"/>
                </a:lnTo>
                <a:lnTo>
                  <a:pt x="0" y="1558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529554" y="6746120"/>
            <a:ext cx="7234197" cy="1941548"/>
          </a:xfrm>
          <a:custGeom>
            <a:avLst/>
            <a:gdLst/>
            <a:ahLst/>
            <a:cxnLst/>
            <a:rect l="l" t="t" r="r" b="b"/>
            <a:pathLst>
              <a:path w="7234197" h="1941548">
                <a:moveTo>
                  <a:pt x="0" y="0"/>
                </a:moveTo>
                <a:lnTo>
                  <a:pt x="7234197" y="0"/>
                </a:lnTo>
                <a:lnTo>
                  <a:pt x="7234197" y="1941548"/>
                </a:lnTo>
                <a:lnTo>
                  <a:pt x="0" y="1941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70" r="-197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708356" y="9750471"/>
            <a:ext cx="4871287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Md. Adnan Sami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962477" y="9750471"/>
            <a:ext cx="3952010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Bank Management System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20518" y="1019175"/>
            <a:ext cx="8551763" cy="122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System Architecture</a:t>
            </a:r>
            <a:endParaRPr lang="en-US" sz="8000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03420" y="2371337"/>
            <a:ext cx="9669841" cy="90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595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Fin</a:t>
            </a:r>
            <a:r>
              <a:rPr lang="en-US" sz="2595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 Account Function: </a:t>
            </a:r>
            <a:endParaRPr lang="en-US" sz="2595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436245" lvl="1" indent="-218440" algn="l">
              <a:lnSpc>
                <a:spcPts val="2040"/>
              </a:lnSpc>
              <a:buFont typeface="Arial" panose="020B0604020202020204"/>
              <a:buChar char="•"/>
            </a:pPr>
            <a:r>
              <a:rPr lang="en-US" sz="202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Each class handles a specific task.</a:t>
            </a:r>
            <a:endParaRPr lang="en-US" sz="202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36245" lvl="1" indent="-218440" algn="l">
              <a:lnSpc>
                <a:spcPts val="2040"/>
              </a:lnSpc>
              <a:buFont typeface="Arial" panose="020B0604020202020204"/>
              <a:buChar char="•"/>
            </a:pPr>
            <a:r>
              <a:rPr lang="en-US" sz="202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Example: </a:t>
            </a:r>
            <a:r>
              <a:rPr lang="en-US" sz="202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Bank Account </a:t>
            </a:r>
            <a:r>
              <a:rPr lang="en-US" sz="202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manages account logic, </a:t>
            </a:r>
            <a:r>
              <a:rPr lang="en-US" sz="202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Banking System</a:t>
            </a:r>
            <a:r>
              <a:rPr lang="en-US" sz="202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handles operations.</a:t>
            </a:r>
            <a:endParaRPr lang="en-US" sz="202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492454" y="3464167"/>
            <a:ext cx="7964041" cy="63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23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</a:t>
            </a:r>
            <a:r>
              <a:rPr lang="en-US" sz="23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ave Accounts Function:</a:t>
            </a: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</a:t>
            </a:r>
            <a:endParaRPr lang="en-US" sz="23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96570" lvl="1" indent="-248285" algn="l">
              <a:lnSpc>
                <a:spcPts val="232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User → BankingSystem → BankAccount → Files → User</a:t>
            </a:r>
            <a:endParaRPr lang="en-US" sz="23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74353" y="7028750"/>
            <a:ext cx="8795546" cy="140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2605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K</a:t>
            </a:r>
            <a:r>
              <a:rPr lang="en-US" sz="2605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ey Points:</a:t>
            </a:r>
            <a:endParaRPr lang="en-US" sz="2605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562610" lvl="1" indent="-281305" algn="l">
              <a:lnSpc>
                <a:spcPts val="26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605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Modular &amp; maintainable</a:t>
            </a:r>
            <a:endParaRPr lang="en-US" sz="2605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62610" lvl="1" indent="-281305" algn="l">
              <a:lnSpc>
                <a:spcPts val="26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605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Secure &amp; reliable (transaction logging)</a:t>
            </a:r>
            <a:endParaRPr lang="en-US" sz="2605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62610" lvl="1" indent="-281305" algn="l">
              <a:lnSpc>
                <a:spcPts val="2630"/>
              </a:lnSpc>
              <a:buFont typeface="Arial" panose="020B0604020202020204"/>
              <a:buChar char="•"/>
            </a:pPr>
            <a:r>
              <a:rPr lang="en-US" sz="2605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Scalable for new features.</a:t>
            </a:r>
            <a:endParaRPr lang="en-US" sz="2605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9554" y="5740350"/>
            <a:ext cx="7766846" cy="65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4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Load</a:t>
            </a:r>
            <a:r>
              <a:rPr lang="en-US" sz="24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ing Accounts from File:</a:t>
            </a:r>
            <a:endParaRPr lang="en-US" sz="2400" b="1">
              <a:solidFill>
                <a:srgbClr val="F8F8F8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496570" lvl="1" indent="-248285" algn="l">
              <a:lnSpc>
                <a:spcPts val="2325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Accounts, transactions, counters stored in files.</a:t>
            </a:r>
            <a:endParaRPr lang="en-US" sz="23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507741" y="3555565"/>
            <a:ext cx="2408618" cy="90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5335" b="1">
                <a:solidFill>
                  <a:srgbClr val="FF3131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FFBD59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C1FF72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endParaRPr lang="en-US" sz="5335" b="1">
              <a:solidFill>
                <a:srgbClr val="C1FF72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68679" y="5936754"/>
            <a:ext cx="2408618" cy="90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5335" b="1">
                <a:solidFill>
                  <a:srgbClr val="FF3131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FFBD59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C1FF72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endParaRPr lang="en-US" sz="5335" b="1">
              <a:solidFill>
                <a:srgbClr val="C1FF72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25770" y="2884481"/>
            <a:ext cx="2408618" cy="90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5335" b="1">
                <a:solidFill>
                  <a:srgbClr val="FF3131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FFBD59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C1FF72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endParaRPr lang="en-US" sz="5335" b="1">
              <a:solidFill>
                <a:srgbClr val="C1FF72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918182" y="6227304"/>
            <a:ext cx="2408618" cy="902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0"/>
              </a:lnSpc>
            </a:pPr>
            <a:r>
              <a:rPr lang="en-US" sz="5335" b="1">
                <a:solidFill>
                  <a:srgbClr val="FF3131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FFBD59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r>
              <a:rPr lang="en-US" sz="5335" b="1">
                <a:solidFill>
                  <a:srgbClr val="C1FF72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.</a:t>
            </a:r>
            <a:endParaRPr lang="en-US" sz="5335" b="1">
              <a:solidFill>
                <a:srgbClr val="C1FF72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845756" y="9565607"/>
            <a:ext cx="19527875" cy="3086100"/>
            <a:chOff x="0" y="0"/>
            <a:chExt cx="514314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143144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532760" y="1028700"/>
            <a:ext cx="9726540" cy="1233286"/>
            <a:chOff x="0" y="0"/>
            <a:chExt cx="2561723" cy="324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61723" cy="324816"/>
            </a:xfrm>
            <a:custGeom>
              <a:avLst/>
              <a:gdLst/>
              <a:ahLst/>
              <a:cxnLst/>
              <a:rect l="l" t="t" r="r" b="b"/>
              <a:pathLst>
                <a:path w="2561723" h="324816">
                  <a:moveTo>
                    <a:pt x="40594" y="0"/>
                  </a:moveTo>
                  <a:lnTo>
                    <a:pt x="2521129" y="0"/>
                  </a:lnTo>
                  <a:cubicBezTo>
                    <a:pt x="2543548" y="0"/>
                    <a:pt x="2561723" y="18174"/>
                    <a:pt x="2561723" y="40594"/>
                  </a:cubicBezTo>
                  <a:lnTo>
                    <a:pt x="2561723" y="284222"/>
                  </a:lnTo>
                  <a:cubicBezTo>
                    <a:pt x="2561723" y="294988"/>
                    <a:pt x="2557446" y="305313"/>
                    <a:pt x="2549833" y="312926"/>
                  </a:cubicBezTo>
                  <a:cubicBezTo>
                    <a:pt x="2542220" y="320539"/>
                    <a:pt x="2531895" y="324816"/>
                    <a:pt x="2521129" y="324816"/>
                  </a:cubicBezTo>
                  <a:lnTo>
                    <a:pt x="40594" y="324816"/>
                  </a:lnTo>
                  <a:cubicBezTo>
                    <a:pt x="18174" y="324816"/>
                    <a:pt x="0" y="306641"/>
                    <a:pt x="0" y="284222"/>
                  </a:cubicBezTo>
                  <a:lnTo>
                    <a:pt x="0" y="40594"/>
                  </a:lnTo>
                  <a:cubicBezTo>
                    <a:pt x="0" y="18174"/>
                    <a:pt x="18174" y="0"/>
                    <a:pt x="40594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561723" cy="33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5679656" cy="8293917"/>
          </a:xfrm>
          <a:custGeom>
            <a:avLst/>
            <a:gdLst/>
            <a:ahLst/>
            <a:cxnLst/>
            <a:rect l="l" t="t" r="r" b="b"/>
            <a:pathLst>
              <a:path w="5679656" h="8293917">
                <a:moveTo>
                  <a:pt x="0" y="0"/>
                </a:moveTo>
                <a:lnTo>
                  <a:pt x="5679656" y="0"/>
                </a:lnTo>
                <a:lnTo>
                  <a:pt x="5679656" y="8293917"/>
                </a:lnTo>
                <a:lnTo>
                  <a:pt x="0" y="829391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32" r="-7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708356" y="9750471"/>
            <a:ext cx="4871287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Md. Yousuf Ali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62477" y="9750471"/>
            <a:ext cx="3952010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Bank Management System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01131" y="1227765"/>
            <a:ext cx="7158169" cy="82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5"/>
              </a:lnSpc>
              <a:spcBef>
                <a:spcPct val="0"/>
              </a:spcBef>
            </a:pPr>
            <a:r>
              <a:rPr lang="en-US" sz="54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System Class Diagram</a:t>
            </a:r>
            <a:endParaRPr lang="en-US" sz="54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04055" y="3349055"/>
            <a:ext cx="8745720" cy="4911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40"/>
              </a:lnSpc>
              <a:spcBef>
                <a:spcPct val="0"/>
              </a:spcBef>
            </a:pPr>
            <a:r>
              <a:rPr lang="en-US" sz="42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🏦</a:t>
            </a:r>
            <a:r>
              <a:rPr lang="en-US" sz="42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Banking Application – Key Flow</a:t>
            </a:r>
            <a:endParaRPr lang="en-US" sz="42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906780" lvl="1" indent="-453390" algn="just">
              <a:lnSpc>
                <a:spcPts val="42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Start</a:t>
            </a:r>
            <a:r>
              <a:rPr lang="en-US" sz="42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</a:t>
            </a:r>
            <a:r>
              <a:rPr lang="en-US" sz="42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program → Load accounts</a:t>
            </a:r>
            <a:endParaRPr lang="en-US" sz="42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906780" lvl="1" indent="-453390" algn="just">
              <a:lnSpc>
                <a:spcPts val="42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Show main menu (8 options)</a:t>
            </a:r>
            <a:endParaRPr lang="en-US" sz="42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906780" lvl="1" indent="-453390" algn="just">
              <a:lnSpc>
                <a:spcPts val="42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Core actions: Create,Deposit, Withdraw, Check Balance</a:t>
            </a:r>
            <a:endParaRPr lang="en-US" sz="42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906780" lvl="1" indent="-453390" algn="just">
              <a:lnSpc>
                <a:spcPts val="42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Extra features: Account details, Transaction history, Admin view</a:t>
            </a:r>
            <a:endParaRPr lang="en-US" sz="42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906780" lvl="1" indent="-453390" algn="just">
              <a:lnSpc>
                <a:spcPts val="42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2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Exit → End program</a:t>
            </a:r>
            <a:endParaRPr lang="en-US" sz="42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4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5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845756" y="9565607"/>
            <a:ext cx="19527875" cy="3086100"/>
            <a:chOff x="0" y="0"/>
            <a:chExt cx="514314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38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143144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028700" y="1028700"/>
            <a:ext cx="16230600" cy="1233286"/>
            <a:chOff x="0" y="0"/>
            <a:chExt cx="4274726" cy="324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324816"/>
            </a:xfrm>
            <a:custGeom>
              <a:avLst/>
              <a:gdLst/>
              <a:ahLst/>
              <a:cxnLst/>
              <a:rect l="l" t="t" r="r" b="b"/>
              <a:pathLst>
                <a:path w="4274726" h="32481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00489"/>
                  </a:lnTo>
                  <a:cubicBezTo>
                    <a:pt x="4274726" y="306941"/>
                    <a:pt x="4272163" y="313129"/>
                    <a:pt x="4267601" y="317691"/>
                  </a:cubicBezTo>
                  <a:cubicBezTo>
                    <a:pt x="4263039" y="322253"/>
                    <a:pt x="4256851" y="324816"/>
                    <a:pt x="4250399" y="324816"/>
                  </a:cubicBezTo>
                  <a:lnTo>
                    <a:pt x="24327" y="324816"/>
                  </a:lnTo>
                  <a:cubicBezTo>
                    <a:pt x="10891" y="324816"/>
                    <a:pt x="0" y="313925"/>
                    <a:pt x="0" y="30048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0D385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274726" cy="33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529554" y="3246202"/>
            <a:ext cx="7766846" cy="2054711"/>
          </a:xfrm>
          <a:custGeom>
            <a:avLst/>
            <a:gdLst/>
            <a:ahLst/>
            <a:cxnLst/>
            <a:rect l="l" t="t" r="r" b="b"/>
            <a:pathLst>
              <a:path w="7766846" h="2054711">
                <a:moveTo>
                  <a:pt x="0" y="0"/>
                </a:moveTo>
                <a:lnTo>
                  <a:pt x="7766846" y="0"/>
                </a:lnTo>
                <a:lnTo>
                  <a:pt x="7766846" y="2054711"/>
                </a:lnTo>
                <a:lnTo>
                  <a:pt x="0" y="205471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7550" t="-29406" r="-7321" b="-2854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492454" y="4581612"/>
            <a:ext cx="7766846" cy="1936320"/>
          </a:xfrm>
          <a:custGeom>
            <a:avLst/>
            <a:gdLst/>
            <a:ahLst/>
            <a:cxnLst/>
            <a:rect l="l" t="t" r="r" b="b"/>
            <a:pathLst>
              <a:path w="7766846" h="1936320">
                <a:moveTo>
                  <a:pt x="0" y="0"/>
                </a:moveTo>
                <a:lnTo>
                  <a:pt x="7766846" y="0"/>
                </a:lnTo>
                <a:lnTo>
                  <a:pt x="7766846" y="1936321"/>
                </a:lnTo>
                <a:lnTo>
                  <a:pt x="0" y="1936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83" t="-24498" r="-6786" b="-2184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29554" y="6547516"/>
            <a:ext cx="6828082" cy="2107597"/>
          </a:xfrm>
          <a:custGeom>
            <a:avLst/>
            <a:gdLst/>
            <a:ahLst/>
            <a:cxnLst/>
            <a:rect l="l" t="t" r="r" b="b"/>
            <a:pathLst>
              <a:path w="6828082" h="2107597">
                <a:moveTo>
                  <a:pt x="0" y="0"/>
                </a:moveTo>
                <a:lnTo>
                  <a:pt x="6828082" y="0"/>
                </a:lnTo>
                <a:lnTo>
                  <a:pt x="6828082" y="2107598"/>
                </a:lnTo>
                <a:lnTo>
                  <a:pt x="0" y="210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84" t="-37248" r="-8615" b="-2716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492454" y="7613720"/>
            <a:ext cx="7013212" cy="1790404"/>
          </a:xfrm>
          <a:custGeom>
            <a:avLst/>
            <a:gdLst/>
            <a:ahLst/>
            <a:cxnLst/>
            <a:rect l="l" t="t" r="r" b="b"/>
            <a:pathLst>
              <a:path w="7013212" h="1790404">
                <a:moveTo>
                  <a:pt x="0" y="0"/>
                </a:moveTo>
                <a:lnTo>
                  <a:pt x="7013212" y="0"/>
                </a:lnTo>
                <a:lnTo>
                  <a:pt x="7013212" y="1790404"/>
                </a:lnTo>
                <a:lnTo>
                  <a:pt x="0" y="1790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77" t="-29954" r="-6407" b="-2827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08356" y="9750471"/>
            <a:ext cx="4871287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Luckman Rafique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962477" y="9750471"/>
            <a:ext cx="3952010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Bank Management System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715066" y="1042848"/>
            <a:ext cx="11554777" cy="122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Sec</a:t>
            </a: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urity &amp; Data Validation</a:t>
            </a:r>
            <a:endParaRPr lang="en-US" sz="8000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529554" y="2483664"/>
            <a:ext cx="7766846" cy="63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sz="23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Withdrawal Authentication:</a:t>
            </a: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Transacti</a:t>
            </a: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ons require a strict 4-digit PIN verification, preventing unauthorized access to funds.</a:t>
            </a:r>
            <a:endParaRPr lang="en-US" sz="23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492454" y="3431151"/>
            <a:ext cx="7766846" cy="9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sz="2300" b="1">
                <a:solidFill>
                  <a:srgbClr val="F8F8F8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Minimum Balance Enforcement:</a:t>
            </a: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The system automatically bl</a:t>
            </a: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ocks withdrawals that would drop the balance below the mandatory threshold (e.g., 500 BDT for Current).</a:t>
            </a:r>
            <a:endParaRPr lang="en-US" sz="23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492454" y="6736595"/>
            <a:ext cx="7766846" cy="92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Input Sanitization: Rigorous validation en</a:t>
            </a: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sures phone numbers are numeric and account types are valid before object creation. </a:t>
            </a:r>
            <a:endParaRPr lang="en-US" sz="23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29554" y="5740350"/>
            <a:ext cx="7766846" cy="63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sz="2300">
                <a:solidFill>
                  <a:srgbClr val="F8F8F8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Role-Based Access: A hardcoded admin layer protects the "View All Accounts" feature from standard users.</a:t>
            </a:r>
            <a:endParaRPr lang="en-US" sz="2300">
              <a:solidFill>
                <a:srgbClr val="F8F8F8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845756" y="9565607"/>
            <a:ext cx="19527875" cy="3086100"/>
            <a:chOff x="0" y="0"/>
            <a:chExt cx="514314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143144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028700" y="1028700"/>
            <a:ext cx="16230600" cy="1233286"/>
            <a:chOff x="0" y="0"/>
            <a:chExt cx="4274726" cy="3248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324816"/>
            </a:xfrm>
            <a:custGeom>
              <a:avLst/>
              <a:gdLst/>
              <a:ahLst/>
              <a:cxnLst/>
              <a:rect l="l" t="t" r="r" b="b"/>
              <a:pathLst>
                <a:path w="4274726" h="32481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00489"/>
                  </a:lnTo>
                  <a:cubicBezTo>
                    <a:pt x="4274726" y="306941"/>
                    <a:pt x="4272163" y="313129"/>
                    <a:pt x="4267601" y="317691"/>
                  </a:cubicBezTo>
                  <a:cubicBezTo>
                    <a:pt x="4263039" y="322253"/>
                    <a:pt x="4256851" y="324816"/>
                    <a:pt x="4250399" y="324816"/>
                  </a:cubicBezTo>
                  <a:lnTo>
                    <a:pt x="24327" y="324816"/>
                  </a:lnTo>
                  <a:cubicBezTo>
                    <a:pt x="10891" y="324816"/>
                    <a:pt x="0" y="313925"/>
                    <a:pt x="0" y="30048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274726" cy="33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620485" y="4107984"/>
            <a:ext cx="8802102" cy="3611625"/>
          </a:xfrm>
          <a:custGeom>
            <a:avLst/>
            <a:gdLst/>
            <a:ahLst/>
            <a:cxnLst/>
            <a:rect l="l" t="t" r="r" b="b"/>
            <a:pathLst>
              <a:path w="8802102" h="3611625">
                <a:moveTo>
                  <a:pt x="0" y="0"/>
                </a:moveTo>
                <a:lnTo>
                  <a:pt x="8802102" y="0"/>
                </a:lnTo>
                <a:lnTo>
                  <a:pt x="8802102" y="3611625"/>
                </a:lnTo>
                <a:lnTo>
                  <a:pt x="0" y="361162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113491" y="3444730"/>
            <a:ext cx="5011748" cy="5132521"/>
          </a:xfrm>
          <a:custGeom>
            <a:avLst/>
            <a:gdLst/>
            <a:ahLst/>
            <a:cxnLst/>
            <a:rect l="l" t="t" r="r" b="b"/>
            <a:pathLst>
              <a:path w="5011748" h="5132521">
                <a:moveTo>
                  <a:pt x="0" y="0"/>
                </a:moveTo>
                <a:lnTo>
                  <a:pt x="5011747" y="0"/>
                </a:lnTo>
                <a:lnTo>
                  <a:pt x="5011747" y="5132521"/>
                </a:lnTo>
                <a:lnTo>
                  <a:pt x="0" y="513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9" t="-1546" r="-237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192681" y="9750471"/>
            <a:ext cx="5902638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Presented by: Kazi Yeaj Morshed Rizve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62477" y="9750471"/>
            <a:ext cx="4325523" cy="3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sz="2300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Bank Management System</a:t>
            </a:r>
            <a:endParaRPr lang="en-US" sz="2300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32224" y="1019175"/>
            <a:ext cx="8423553" cy="122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</a:t>
            </a: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urrent Limitations</a:t>
            </a:r>
            <a:endParaRPr lang="en-US" sz="8000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970336" y="9503317"/>
            <a:ext cx="19527875" cy="3086100"/>
            <a:chOff x="0" y="0"/>
            <a:chExt cx="514314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143144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6850588" y="9759996"/>
            <a:ext cx="307586" cy="307586"/>
          </a:xfrm>
          <a:custGeom>
            <a:avLst/>
            <a:gdLst/>
            <a:ahLst/>
            <a:cxnLst/>
            <a:rect l="l" t="t" r="r" b="b"/>
            <a:pathLst>
              <a:path w="307586" h="307586">
                <a:moveTo>
                  <a:pt x="0" y="0"/>
                </a:moveTo>
                <a:lnTo>
                  <a:pt x="307586" y="0"/>
                </a:lnTo>
                <a:lnTo>
                  <a:pt x="307586" y="307586"/>
                </a:lnTo>
                <a:lnTo>
                  <a:pt x="0" y="3075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708356" y="9779046"/>
            <a:ext cx="4871287" cy="22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"/>
              </a:lnSpc>
            </a:pPr>
            <a:r>
              <a:rPr lang="en-US" sz="1620" spc="74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Presented by: Md. Taimur Rahman</a:t>
            </a:r>
            <a:endParaRPr lang="en-US" sz="1620" spc="74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174973" y="2722710"/>
            <a:ext cx="8943307" cy="6319883"/>
            <a:chOff x="0" y="0"/>
            <a:chExt cx="1772467" cy="12525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2467" cy="1252532"/>
            </a:xfrm>
            <a:custGeom>
              <a:avLst/>
              <a:gdLst/>
              <a:ahLst/>
              <a:cxnLst/>
              <a:rect l="l" t="t" r="r" b="b"/>
              <a:pathLst>
                <a:path w="1772467" h="1252532">
                  <a:moveTo>
                    <a:pt x="16908" y="0"/>
                  </a:moveTo>
                  <a:lnTo>
                    <a:pt x="1755559" y="0"/>
                  </a:lnTo>
                  <a:cubicBezTo>
                    <a:pt x="1760043" y="0"/>
                    <a:pt x="1764344" y="1781"/>
                    <a:pt x="1767515" y="4952"/>
                  </a:cubicBezTo>
                  <a:cubicBezTo>
                    <a:pt x="1770686" y="8123"/>
                    <a:pt x="1772467" y="12423"/>
                    <a:pt x="1772467" y="16908"/>
                  </a:cubicBezTo>
                  <a:lnTo>
                    <a:pt x="1772467" y="1235625"/>
                  </a:lnTo>
                  <a:cubicBezTo>
                    <a:pt x="1772467" y="1244963"/>
                    <a:pt x="1764897" y="1252532"/>
                    <a:pt x="1755559" y="1252532"/>
                  </a:cubicBezTo>
                  <a:lnTo>
                    <a:pt x="16908" y="1252532"/>
                  </a:lnTo>
                  <a:cubicBezTo>
                    <a:pt x="12423" y="1252532"/>
                    <a:pt x="8123" y="1250751"/>
                    <a:pt x="4952" y="1247580"/>
                  </a:cubicBezTo>
                  <a:cubicBezTo>
                    <a:pt x="1781" y="1244410"/>
                    <a:pt x="0" y="1240109"/>
                    <a:pt x="0" y="1235625"/>
                  </a:cubicBezTo>
                  <a:lnTo>
                    <a:pt x="0" y="16908"/>
                  </a:lnTo>
                  <a:cubicBezTo>
                    <a:pt x="0" y="7570"/>
                    <a:pt x="7570" y="0"/>
                    <a:pt x="16908" y="0"/>
                  </a:cubicBezTo>
                  <a:close/>
                </a:path>
              </a:pathLst>
            </a:custGeom>
            <a:solidFill>
              <a:srgbClr val="0D385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14300"/>
              <a:ext cx="1772467" cy="136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20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028700" y="1028700"/>
            <a:ext cx="16230600" cy="1233286"/>
            <a:chOff x="0" y="0"/>
            <a:chExt cx="4274726" cy="3248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324816"/>
            </a:xfrm>
            <a:custGeom>
              <a:avLst/>
              <a:gdLst/>
              <a:ahLst/>
              <a:cxnLst/>
              <a:rect l="l" t="t" r="r" b="b"/>
              <a:pathLst>
                <a:path w="4274726" h="32481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00489"/>
                  </a:lnTo>
                  <a:cubicBezTo>
                    <a:pt x="4274726" y="306941"/>
                    <a:pt x="4272163" y="313129"/>
                    <a:pt x="4267601" y="317691"/>
                  </a:cubicBezTo>
                  <a:cubicBezTo>
                    <a:pt x="4263039" y="322253"/>
                    <a:pt x="4256851" y="324816"/>
                    <a:pt x="4250399" y="324816"/>
                  </a:cubicBezTo>
                  <a:lnTo>
                    <a:pt x="24327" y="324816"/>
                  </a:lnTo>
                  <a:cubicBezTo>
                    <a:pt x="10891" y="324816"/>
                    <a:pt x="0" y="313925"/>
                    <a:pt x="0" y="30048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4274726" cy="334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5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2864" y="3666144"/>
            <a:ext cx="9588520" cy="624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8675" lvl="1" indent="-414020" algn="l">
              <a:lnSpc>
                <a:spcPts val="4415"/>
              </a:lnSpc>
              <a:buFont typeface="Arial" panose="020B0604020202020204"/>
              <a:buChar char="•"/>
            </a:pPr>
            <a:r>
              <a:rPr lang="en-US" sz="3835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Password Hashing</a:t>
            </a:r>
            <a:endParaRPr lang="en-US" sz="3835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4415"/>
              </a:lnSpc>
            </a:pPr>
          </a:p>
          <a:p>
            <a:pPr marL="828675" lvl="1" indent="-414020" algn="l">
              <a:lnSpc>
                <a:spcPts val="4415"/>
              </a:lnSpc>
              <a:buFont typeface="Arial" panose="020B0604020202020204"/>
              <a:buChar char="•"/>
            </a:pPr>
            <a:r>
              <a:rPr lang="en-US" sz="3835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Database Migration</a:t>
            </a:r>
            <a:endParaRPr lang="en-US" sz="3835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4415"/>
              </a:lnSpc>
            </a:pPr>
          </a:p>
          <a:p>
            <a:pPr marL="828675" lvl="1" indent="-414020" algn="l">
              <a:lnSpc>
                <a:spcPts val="4415"/>
              </a:lnSpc>
              <a:buFont typeface="Arial" panose="020B0604020202020204"/>
              <a:buChar char="•"/>
            </a:pPr>
            <a:r>
              <a:rPr lang="en-US" sz="3835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Graphical User Interface (GUI)</a:t>
            </a:r>
            <a:endParaRPr lang="en-US" sz="3835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4415"/>
              </a:lnSpc>
            </a:pPr>
          </a:p>
          <a:p>
            <a:pPr marL="828675" lvl="1" indent="-414020" algn="l">
              <a:lnSpc>
                <a:spcPts val="4415"/>
              </a:lnSpc>
              <a:buFont typeface="Arial" panose="020B0604020202020204"/>
              <a:buChar char="•"/>
            </a:pPr>
            <a:r>
              <a:rPr lang="en-US" sz="3835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Advanced Features</a:t>
            </a:r>
            <a:endParaRPr lang="en-US" sz="3835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4415"/>
              </a:lnSpc>
            </a:pPr>
          </a:p>
          <a:p>
            <a:pPr algn="l">
              <a:lnSpc>
                <a:spcPts val="4415"/>
              </a:lnSpc>
            </a:pPr>
          </a:p>
          <a:p>
            <a:pPr algn="l">
              <a:lnSpc>
                <a:spcPts val="4415"/>
              </a:lnSpc>
            </a:pPr>
          </a:p>
          <a:p>
            <a:pPr algn="l">
              <a:lnSpc>
                <a:spcPts val="4415"/>
              </a:lnSpc>
            </a:pPr>
          </a:p>
        </p:txBody>
      </p:sp>
      <p:sp>
        <p:nvSpPr>
          <p:cNvPr id="14" name="Freeform 14"/>
          <p:cNvSpPr/>
          <p:nvPr/>
        </p:nvSpPr>
        <p:spPr>
          <a:xfrm>
            <a:off x="12667417" y="3825251"/>
            <a:ext cx="3628505" cy="4114800"/>
          </a:xfrm>
          <a:custGeom>
            <a:avLst/>
            <a:gdLst/>
            <a:ahLst/>
            <a:cxnLst/>
            <a:rect l="l" t="t" r="r" b="b"/>
            <a:pathLst>
              <a:path w="3628505" h="4114800">
                <a:moveTo>
                  <a:pt x="0" y="0"/>
                </a:moveTo>
                <a:lnTo>
                  <a:pt x="3628505" y="0"/>
                </a:lnTo>
                <a:lnTo>
                  <a:pt x="36285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620583" y="1040245"/>
            <a:ext cx="7046833" cy="122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Fu</a:t>
            </a: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</a:t>
            </a:r>
            <a:r>
              <a:rPr lang="en-US" sz="80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ure Roadmap</a:t>
            </a:r>
            <a:endParaRPr lang="en-US" sz="8000" b="1">
              <a:solidFill>
                <a:srgbClr val="FFFF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970336" y="9503317"/>
            <a:ext cx="19527875" cy="3086100"/>
            <a:chOff x="0" y="0"/>
            <a:chExt cx="5143144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3144" cy="812800"/>
            </a:xfrm>
            <a:custGeom>
              <a:avLst/>
              <a:gdLst/>
              <a:ahLst/>
              <a:cxnLst/>
              <a:rect l="l" t="t" r="r" b="b"/>
              <a:pathLst>
                <a:path w="5143144" h="812800">
                  <a:moveTo>
                    <a:pt x="0" y="0"/>
                  </a:moveTo>
                  <a:lnTo>
                    <a:pt x="5143144" y="0"/>
                  </a:lnTo>
                  <a:lnTo>
                    <a:pt x="514314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6456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5143144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603788" y="1521924"/>
            <a:ext cx="13260423" cy="6533772"/>
          </a:xfrm>
          <a:custGeom>
            <a:avLst/>
            <a:gdLst/>
            <a:ahLst/>
            <a:cxnLst/>
            <a:rect l="l" t="t" r="r" b="b"/>
            <a:pathLst>
              <a:path w="13260423" h="6533772">
                <a:moveTo>
                  <a:pt x="0" y="0"/>
                </a:moveTo>
                <a:lnTo>
                  <a:pt x="13260423" y="0"/>
                </a:lnTo>
                <a:lnTo>
                  <a:pt x="13260423" y="6533772"/>
                </a:lnTo>
                <a:lnTo>
                  <a:pt x="0" y="653377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708356" y="9779046"/>
            <a:ext cx="4871287" cy="220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"/>
              </a:lnSpc>
            </a:pPr>
            <a:r>
              <a:rPr lang="en-US" sz="162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TEAM </a:t>
            </a:r>
            <a:endParaRPr lang="en-US" sz="162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347491" y="4376821"/>
            <a:ext cx="9341757" cy="1569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5"/>
              </a:lnSpc>
            </a:pPr>
            <a:r>
              <a:rPr lang="en-US" sz="10945" b="1">
                <a:solidFill>
                  <a:srgbClr val="00000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Thank You!</a:t>
            </a:r>
            <a:endParaRPr lang="en-US" sz="10945" b="1">
              <a:solidFill>
                <a:srgbClr val="00000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58356" y="5888724"/>
            <a:ext cx="8140028" cy="35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</a:pPr>
            <a:r>
              <a:rPr lang="en-US" sz="1960">
                <a:solidFill>
                  <a:srgbClr val="16456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Thank you for your attention.</a:t>
            </a:r>
            <a:endParaRPr lang="en-US" sz="1960">
              <a:solidFill>
                <a:srgbClr val="16456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928370" y="1698782"/>
            <a:ext cx="487499" cy="450271"/>
          </a:xfrm>
          <a:custGeom>
            <a:avLst/>
            <a:gdLst/>
            <a:ahLst/>
            <a:cxnLst/>
            <a:rect l="l" t="t" r="r" b="b"/>
            <a:pathLst>
              <a:path w="487499" h="450271">
                <a:moveTo>
                  <a:pt x="0" y="0"/>
                </a:moveTo>
                <a:lnTo>
                  <a:pt x="487499" y="0"/>
                </a:lnTo>
                <a:lnTo>
                  <a:pt x="487499" y="450271"/>
                </a:lnTo>
                <a:lnTo>
                  <a:pt x="0" y="450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2541</Words>
  <Application>WPS Presentation</Application>
  <PresentationFormat>On-screen Show (4:3)</PresentationFormat>
  <Paragraphs>171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Times New Roman MT Bold</vt:lpstr>
      <vt:lpstr>Times New Roman MT</vt:lpstr>
      <vt:lpstr>Times New Roman MT Semi-Bold</vt:lpstr>
      <vt:lpstr>Arial</vt:lpstr>
      <vt:lpstr>Canva Sans Bold</vt:lpstr>
      <vt:lpstr>Poppins</vt:lpstr>
      <vt:lpstr>Poppins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Blue Modern Illustrative Computer Software Presentation</dc:title>
  <dc:creator/>
  <cp:lastModifiedBy>Adnan Sami</cp:lastModifiedBy>
  <cp:revision>2</cp:revision>
  <dcterms:created xsi:type="dcterms:W3CDTF">2006-08-16T00:00:00Z</dcterms:created>
  <dcterms:modified xsi:type="dcterms:W3CDTF">2025-12-15T07:22:54Z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A79A40DB89DE4BED85CB05115D085DCC_13</vt:lpwstr>
  </property>
  <property fmtid="{D5CDD505-2E9C-101B-9397-08002B2CF9AE}" pid="3" name="KSOProductBuildVer">
    <vt:lpwstr>1033-12.2.0.23155</vt:lpwstr>
  </property>
</Properties>
</file>